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60" r:id="rId2"/>
    <p:sldId id="256" r:id="rId3"/>
    <p:sldId id="261"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3/6/2026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72143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3/6/2026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61685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3/6/2026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95679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3/6/2026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87940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3/6/2026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95687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3/6/2026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44595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3/6/2026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6441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3/6/2026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82966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3/6/2026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12747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3/6/2026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09154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3/6/2026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5196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3/6/2026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035856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in/ankitrawat-ds/" TargetMode="External"/><Relationship Id="rId2" Type="http://schemas.openxmlformats.org/officeDocument/2006/relationships/hyperlink" Target="mailto:ankitrawat.ds@gmail.com" TargetMode="External"/><Relationship Id="rId1" Type="http://schemas.openxmlformats.org/officeDocument/2006/relationships/slideLayout" Target="../slideLayouts/slideLayout7.xml"/><Relationship Id="rId5" Type="http://schemas.openxmlformats.org/officeDocument/2006/relationships/hyperlink" Target="https://itrak365.com/support/power-bi-icon-7/"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9D8A09F-76AE-63E9-E10A-FF53B97669A7}"/>
              </a:ext>
            </a:extLst>
          </p:cNvPr>
          <p:cNvSpPr txBox="1"/>
          <p:nvPr/>
        </p:nvSpPr>
        <p:spPr>
          <a:xfrm>
            <a:off x="800100" y="241300"/>
            <a:ext cx="10579100" cy="461665"/>
          </a:xfrm>
          <a:prstGeom prst="rect">
            <a:avLst/>
          </a:prstGeom>
          <a:noFill/>
        </p:spPr>
        <p:txBody>
          <a:bodyPr wrap="square" rtlCol="0">
            <a:spAutoFit/>
          </a:bodyPr>
          <a:lstStyle/>
          <a:p>
            <a:pPr algn="ctr"/>
            <a:r>
              <a:rPr lang="en-IN" sz="2400" b="1" noProof="0" dirty="0">
                <a:latin typeface="Calibri" panose="020F0502020204030204" pitchFamily="34" charset="0"/>
                <a:ea typeface="Calibri" panose="020F0502020204030204" pitchFamily="34" charset="0"/>
                <a:cs typeface="Calibri" panose="020F0502020204030204" pitchFamily="34" charset="0"/>
              </a:rPr>
              <a:t>Credit Risk Analysis &amp; Insights using Power BI</a:t>
            </a:r>
          </a:p>
        </p:txBody>
      </p:sp>
      <p:sp>
        <p:nvSpPr>
          <p:cNvPr id="5" name="TextBox 4">
            <a:extLst>
              <a:ext uri="{FF2B5EF4-FFF2-40B4-BE49-F238E27FC236}">
                <a16:creationId xmlns:a16="http://schemas.microsoft.com/office/drawing/2014/main" id="{0E5D1728-0283-2550-6A41-5029214BE8C5}"/>
              </a:ext>
            </a:extLst>
          </p:cNvPr>
          <p:cNvSpPr txBox="1"/>
          <p:nvPr/>
        </p:nvSpPr>
        <p:spPr>
          <a:xfrm>
            <a:off x="800100" y="2505215"/>
            <a:ext cx="4394200" cy="1138773"/>
          </a:xfrm>
          <a:prstGeom prst="rect">
            <a:avLst/>
          </a:prstGeom>
          <a:noFill/>
        </p:spPr>
        <p:txBody>
          <a:bodyPr wrap="square" rtlCol="0">
            <a:spAutoFit/>
          </a:bodyPr>
          <a:lstStyle/>
          <a:p>
            <a:r>
              <a:rPr lang="en-IN" b="1" noProof="0" dirty="0">
                <a:latin typeface="Calibri" panose="020F0502020204030204" pitchFamily="34" charset="0"/>
                <a:ea typeface="Calibri" panose="020F0502020204030204" pitchFamily="34" charset="0"/>
                <a:cs typeface="Calibri" panose="020F0502020204030204" pitchFamily="34" charset="0"/>
              </a:rPr>
              <a:t>Tools Used:</a:t>
            </a:r>
          </a:p>
          <a:p>
            <a:pPr marL="285750" indent="-285750">
              <a:buFont typeface="Arial" panose="020B0604020202020204" pitchFamily="34" charset="0"/>
              <a:buChar char="•"/>
            </a:pPr>
            <a:r>
              <a:rPr lang="en-IN" sz="1600" noProof="0" dirty="0">
                <a:latin typeface="Calibri" panose="020F0502020204030204" pitchFamily="34" charset="0"/>
                <a:ea typeface="Calibri" panose="020F0502020204030204" pitchFamily="34" charset="0"/>
                <a:cs typeface="Calibri" panose="020F0502020204030204" pitchFamily="34" charset="0"/>
              </a:rPr>
              <a:t>Power BI Desktop</a:t>
            </a:r>
          </a:p>
          <a:p>
            <a:pPr marL="285750" indent="-285750">
              <a:buFont typeface="Arial" panose="020B0604020202020204" pitchFamily="34" charset="0"/>
              <a:buChar char="•"/>
            </a:pPr>
            <a:r>
              <a:rPr lang="en-IN" sz="1600" noProof="0" dirty="0">
                <a:latin typeface="Calibri" panose="020F0502020204030204" pitchFamily="34" charset="0"/>
                <a:ea typeface="Calibri" panose="020F0502020204030204" pitchFamily="34" charset="0"/>
                <a:cs typeface="Calibri" panose="020F0502020204030204" pitchFamily="34" charset="0"/>
              </a:rPr>
              <a:t>DAX (Calculated Columns and Measures</a:t>
            </a:r>
          </a:p>
          <a:p>
            <a:pPr marL="285750" indent="-285750">
              <a:buFont typeface="Arial" panose="020B0604020202020204" pitchFamily="34" charset="0"/>
              <a:buChar char="•"/>
            </a:pPr>
            <a:r>
              <a:rPr lang="en-IN" sz="1600" noProof="0" dirty="0">
                <a:latin typeface="Calibri" panose="020F0502020204030204" pitchFamily="34" charset="0"/>
                <a:ea typeface="Calibri" panose="020F0502020204030204" pitchFamily="34" charset="0"/>
                <a:cs typeface="Calibri" panose="020F0502020204030204" pitchFamily="34" charset="0"/>
              </a:rPr>
              <a:t>Excel/CSV Data</a:t>
            </a:r>
          </a:p>
        </p:txBody>
      </p:sp>
      <p:sp>
        <p:nvSpPr>
          <p:cNvPr id="9" name="TextBox 8">
            <a:extLst>
              <a:ext uri="{FF2B5EF4-FFF2-40B4-BE49-F238E27FC236}">
                <a16:creationId xmlns:a16="http://schemas.microsoft.com/office/drawing/2014/main" id="{2233635C-730F-78E2-7FA9-EB656B5718EE}"/>
              </a:ext>
            </a:extLst>
          </p:cNvPr>
          <p:cNvSpPr txBox="1"/>
          <p:nvPr/>
        </p:nvSpPr>
        <p:spPr>
          <a:xfrm>
            <a:off x="800100" y="1050092"/>
            <a:ext cx="10579100" cy="1354217"/>
          </a:xfrm>
          <a:prstGeom prst="rect">
            <a:avLst/>
          </a:prstGeom>
          <a:noFill/>
        </p:spPr>
        <p:txBody>
          <a:bodyPr wrap="square" rtlCol="0">
            <a:spAutoFit/>
          </a:bodyPr>
          <a:lstStyle/>
          <a:p>
            <a:r>
              <a:rPr lang="en-IN" b="1" noProof="0" dirty="0">
                <a:latin typeface="Calibri" panose="020F0502020204030204" pitchFamily="34" charset="0"/>
                <a:ea typeface="Calibri" panose="020F0502020204030204" pitchFamily="34" charset="0"/>
                <a:cs typeface="Calibri" panose="020F0502020204030204" pitchFamily="34" charset="0"/>
              </a:rPr>
              <a:t>Overview:</a:t>
            </a:r>
          </a:p>
          <a:p>
            <a:r>
              <a:rPr lang="en-IN" sz="1600" noProof="0" dirty="0">
                <a:latin typeface="Calibri" panose="020F0502020204030204" pitchFamily="34" charset="0"/>
                <a:ea typeface="Calibri" panose="020F0502020204030204" pitchFamily="34" charset="0"/>
                <a:cs typeface="Calibri" panose="020F0502020204030204" pitchFamily="34" charset="0"/>
              </a:rPr>
              <a:t>This dashboard was designed to help the financial institution why there are so many loan defaults by identifying pattern and highlight trend in loan default behaviour. It is analysing borrower characteristics such as education level, income type, gender, occupation and regional risk. These insights support better decision making and help lender improve credit risk assessment and lending policies.</a:t>
            </a:r>
          </a:p>
        </p:txBody>
      </p:sp>
      <p:sp>
        <p:nvSpPr>
          <p:cNvPr id="12" name="TextBox 11">
            <a:extLst>
              <a:ext uri="{FF2B5EF4-FFF2-40B4-BE49-F238E27FC236}">
                <a16:creationId xmlns:a16="http://schemas.microsoft.com/office/drawing/2014/main" id="{754E0A75-EC26-ED5C-7F59-092E4FFFC224}"/>
              </a:ext>
            </a:extLst>
          </p:cNvPr>
          <p:cNvSpPr txBox="1"/>
          <p:nvPr/>
        </p:nvSpPr>
        <p:spPr>
          <a:xfrm>
            <a:off x="8712200" y="4699913"/>
            <a:ext cx="2667000" cy="1354217"/>
          </a:xfrm>
          <a:prstGeom prst="rect">
            <a:avLst/>
          </a:prstGeom>
          <a:noFill/>
        </p:spPr>
        <p:txBody>
          <a:bodyPr wrap="square" rtlCol="0">
            <a:spAutoFit/>
          </a:bodyPr>
          <a:lstStyle/>
          <a:p>
            <a:r>
              <a:rPr lang="en-IN" b="1" noProof="0" dirty="0">
                <a:latin typeface="Calibri" panose="020F0502020204030204" pitchFamily="34" charset="0"/>
                <a:ea typeface="Calibri" panose="020F0502020204030204" pitchFamily="34" charset="0"/>
                <a:cs typeface="Calibri" panose="020F0502020204030204" pitchFamily="34" charset="0"/>
              </a:rPr>
              <a:t>By:</a:t>
            </a:r>
          </a:p>
          <a:p>
            <a:pPr marL="285750" indent="-285750">
              <a:buFont typeface="Arial" panose="020B0604020202020204" pitchFamily="34" charset="0"/>
              <a:buChar char="•"/>
            </a:pPr>
            <a:r>
              <a:rPr lang="en-IN" sz="1600" noProof="0" dirty="0">
                <a:latin typeface="Calibri" panose="020F0502020204030204" pitchFamily="34" charset="0"/>
                <a:ea typeface="Calibri" panose="020F0502020204030204" pitchFamily="34" charset="0"/>
                <a:cs typeface="Calibri" panose="020F0502020204030204" pitchFamily="34" charset="0"/>
              </a:rPr>
              <a:t>Ankit Rawat</a:t>
            </a:r>
          </a:p>
          <a:p>
            <a:pPr marL="285750" indent="-285750">
              <a:buFont typeface="Arial" panose="020B0604020202020204" pitchFamily="34" charset="0"/>
              <a:buChar char="•"/>
            </a:pPr>
            <a:r>
              <a:rPr lang="en-IN" sz="1600" i="1" noProof="0" dirty="0">
                <a:latin typeface="Calibri" panose="020F0502020204030204" pitchFamily="34" charset="0"/>
                <a:ea typeface="Calibri" panose="020F0502020204030204" pitchFamily="34" charset="0"/>
                <a:cs typeface="Calibri" panose="020F0502020204030204" pitchFamily="34" charset="0"/>
              </a:rPr>
              <a:t>Data Analyst</a:t>
            </a:r>
          </a:p>
          <a:p>
            <a:pPr marL="285750" indent="-285750">
              <a:buFont typeface="Arial" panose="020B0604020202020204" pitchFamily="34" charset="0"/>
              <a:buChar char="•"/>
            </a:pPr>
            <a:r>
              <a:rPr lang="en-IN" sz="1600" noProof="0" dirty="0">
                <a:latin typeface="Calibri" panose="020F0502020204030204" pitchFamily="34" charset="0"/>
                <a:ea typeface="Calibri" panose="020F0502020204030204" pitchFamily="34" charset="0"/>
                <a:cs typeface="Calibri" panose="020F0502020204030204" pitchFamily="34" charset="0"/>
                <a:hlinkClick r:id="rId2"/>
              </a:rPr>
              <a:t>ankitrawat.ds@gmail.com</a:t>
            </a:r>
            <a:endParaRPr lang="en-IN" sz="1600" noProof="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600" noProof="0" dirty="0" err="1">
                <a:latin typeface="Calibri" panose="020F0502020204030204" pitchFamily="34" charset="0"/>
                <a:ea typeface="Calibri" panose="020F0502020204030204" pitchFamily="34" charset="0"/>
                <a:cs typeface="Calibri" panose="020F0502020204030204" pitchFamily="34" charset="0"/>
                <a:hlinkClick r:id="rId3"/>
              </a:rPr>
              <a:t>Linkedin</a:t>
            </a:r>
            <a:endParaRPr lang="en-IN" sz="1600" noProof="0" dirty="0">
              <a:latin typeface="Calibri" panose="020F0502020204030204" pitchFamily="34" charset="0"/>
              <a:ea typeface="Calibri" panose="020F0502020204030204" pitchFamily="34" charset="0"/>
              <a:cs typeface="Calibri" panose="020F0502020204030204" pitchFamily="34" charset="0"/>
            </a:endParaRPr>
          </a:p>
        </p:txBody>
      </p:sp>
      <p:pic>
        <p:nvPicPr>
          <p:cNvPr id="14" name="Picture 13" descr="A yellow text on a black background">
            <a:extLst>
              <a:ext uri="{FF2B5EF4-FFF2-40B4-BE49-F238E27FC236}">
                <a16:creationId xmlns:a16="http://schemas.microsoft.com/office/drawing/2014/main" id="{1B4C73BC-D361-995A-973F-EA85D21691E3}"/>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800100" y="3991115"/>
            <a:ext cx="5715000" cy="1515872"/>
          </a:xfrm>
          <a:prstGeom prst="rect">
            <a:avLst/>
          </a:prstGeom>
        </p:spPr>
      </p:pic>
    </p:spTree>
    <p:extLst>
      <p:ext uri="{BB962C8B-B14F-4D97-AF65-F5344CB8AC3E}">
        <p14:creationId xmlns:p14="http://schemas.microsoft.com/office/powerpoint/2010/main" val="4150103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79833C7-FDE4-4657-B0B1-32BE833C24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ABE7C0B-A2D9-4202-A524-532DA2E2D5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C174FC5-038E-083C-B25F-10B618B82B31}"/>
              </a:ext>
            </a:extLst>
          </p:cNvPr>
          <p:cNvPicPr>
            <a:picLocks noChangeAspect="1"/>
          </p:cNvPicPr>
          <p:nvPr/>
        </p:nvPicPr>
        <p:blipFill>
          <a:blip r:embed="rId2"/>
          <a:stretch>
            <a:fillRect/>
          </a:stretch>
        </p:blipFill>
        <p:spPr>
          <a:xfrm>
            <a:off x="108045" y="0"/>
            <a:ext cx="11975910" cy="6858000"/>
          </a:xfrm>
          <a:prstGeom prst="rect">
            <a:avLst/>
          </a:prstGeom>
        </p:spPr>
      </p:pic>
    </p:spTree>
    <p:extLst>
      <p:ext uri="{BB962C8B-B14F-4D97-AF65-F5344CB8AC3E}">
        <p14:creationId xmlns:p14="http://schemas.microsoft.com/office/powerpoint/2010/main" val="3706079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938B7-CB8C-FF2C-40F5-EE379C1E165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A85AFCE-8FB9-2FE6-C790-CC47AD975160}"/>
              </a:ext>
            </a:extLst>
          </p:cNvPr>
          <p:cNvSpPr txBox="1"/>
          <p:nvPr/>
        </p:nvSpPr>
        <p:spPr>
          <a:xfrm>
            <a:off x="800100" y="241300"/>
            <a:ext cx="10579100" cy="461665"/>
          </a:xfrm>
          <a:prstGeom prst="rect">
            <a:avLst/>
          </a:prstGeom>
          <a:noFill/>
        </p:spPr>
        <p:txBody>
          <a:bodyPr wrap="square" rtlCol="0">
            <a:spAutoFit/>
          </a:bodyPr>
          <a:lstStyle/>
          <a:p>
            <a:pPr algn="ctr"/>
            <a:r>
              <a:rPr lang="en-IN" sz="2400" b="1" noProof="0" dirty="0">
                <a:latin typeface="Calibri" panose="020F0502020204030204" pitchFamily="34" charset="0"/>
                <a:ea typeface="Calibri" panose="020F0502020204030204" pitchFamily="34" charset="0"/>
                <a:cs typeface="Calibri" panose="020F0502020204030204" pitchFamily="34" charset="0"/>
              </a:rPr>
              <a:t>Meaningful Insights</a:t>
            </a:r>
          </a:p>
        </p:txBody>
      </p:sp>
      <p:sp>
        <p:nvSpPr>
          <p:cNvPr id="9" name="TextBox 8">
            <a:extLst>
              <a:ext uri="{FF2B5EF4-FFF2-40B4-BE49-F238E27FC236}">
                <a16:creationId xmlns:a16="http://schemas.microsoft.com/office/drawing/2014/main" id="{28AE534E-1F67-01AC-A229-8A75D295606D}"/>
              </a:ext>
            </a:extLst>
          </p:cNvPr>
          <p:cNvSpPr txBox="1"/>
          <p:nvPr/>
        </p:nvSpPr>
        <p:spPr>
          <a:xfrm>
            <a:off x="800100" y="1050092"/>
            <a:ext cx="10579100" cy="3139321"/>
          </a:xfrm>
          <a:prstGeom prst="rect">
            <a:avLst/>
          </a:prstGeom>
          <a:noFill/>
        </p:spPr>
        <p:txBody>
          <a:bodyPr wrap="square" rtlCol="0">
            <a:spAutoFit/>
          </a:bodyPr>
          <a:lstStyle/>
          <a:p>
            <a:r>
              <a:rPr lang="en-US" b="1" noProof="0" dirty="0">
                <a:latin typeface="Calibri" panose="020F0502020204030204" pitchFamily="34" charset="0"/>
                <a:ea typeface="Calibri" panose="020F0502020204030204" pitchFamily="34" charset="0"/>
                <a:cs typeface="Calibri" panose="020F0502020204030204" pitchFamily="34" charset="0"/>
              </a:rPr>
              <a:t>Overall Loan Default Situation-</a:t>
            </a:r>
          </a:p>
          <a:p>
            <a:pPr marL="285750" indent="-285750">
              <a:buFont typeface="Arial" panose="020B0604020202020204" pitchFamily="34" charset="0"/>
              <a:buChar char="•"/>
            </a:pPr>
            <a:r>
              <a:rPr lang="en-US" sz="1600" noProof="0" dirty="0">
                <a:latin typeface="Calibri" panose="020F0502020204030204" pitchFamily="34" charset="0"/>
                <a:ea typeface="Calibri" panose="020F0502020204030204" pitchFamily="34" charset="0"/>
                <a:cs typeface="Calibri" panose="020F0502020204030204" pitchFamily="34" charset="0"/>
              </a:rPr>
              <a:t>Out of 307K total loan applications, about 8.07% borrowers defaulted.</a:t>
            </a:r>
          </a:p>
          <a:p>
            <a:pPr marL="285750" indent="-285750">
              <a:buFont typeface="Arial" panose="020B0604020202020204" pitchFamily="34" charset="0"/>
              <a:buChar char="•"/>
            </a:pPr>
            <a:r>
              <a:rPr lang="en-US" sz="1600" noProof="0" dirty="0">
                <a:latin typeface="Calibri" panose="020F0502020204030204" pitchFamily="34" charset="0"/>
                <a:ea typeface="Calibri" panose="020F0502020204030204" pitchFamily="34" charset="0"/>
                <a:cs typeface="Calibri" panose="020F0502020204030204" pitchFamily="34" charset="0"/>
              </a:rPr>
              <a:t>Around 91.93% of borrowers repay successfully, which indicates the portfolio is mostly healthy but still contains a significant risk segment.</a:t>
            </a:r>
          </a:p>
          <a:p>
            <a:endParaRPr lang="en-US" sz="1600" dirty="0">
              <a:latin typeface="Calibri" panose="020F0502020204030204" pitchFamily="34" charset="0"/>
              <a:ea typeface="Calibri" panose="020F0502020204030204" pitchFamily="34" charset="0"/>
              <a:cs typeface="Calibri" panose="020F0502020204030204" pitchFamily="34" charset="0"/>
            </a:endParaRPr>
          </a:p>
          <a:p>
            <a:r>
              <a:rPr lang="en-US" b="1" noProof="0" dirty="0">
                <a:latin typeface="Calibri" panose="020F0502020204030204" pitchFamily="34" charset="0"/>
                <a:ea typeface="Calibri" panose="020F0502020204030204" pitchFamily="34" charset="0"/>
                <a:cs typeface="Calibri" panose="020F0502020204030204" pitchFamily="34" charset="0"/>
              </a:rPr>
              <a:t>Education Level Strongly Influences Defaults-</a:t>
            </a:r>
          </a:p>
          <a:p>
            <a:pPr marL="285750" indent="-285750">
              <a:buFont typeface="Arial" panose="020B0604020202020204" pitchFamily="34" charset="0"/>
              <a:buChar char="•"/>
            </a:pPr>
            <a:r>
              <a:rPr lang="en-US" sz="1600" noProof="0" dirty="0">
                <a:latin typeface="Calibri" panose="020F0502020204030204" pitchFamily="34" charset="0"/>
                <a:ea typeface="Calibri" panose="020F0502020204030204" pitchFamily="34" charset="0"/>
                <a:cs typeface="Calibri" panose="020F0502020204030204" pitchFamily="34" charset="0"/>
              </a:rPr>
              <a:t>Secondary / Secondary Special Education has the highest number of defaults (~19.5K).Higher education borrowers show much lower defaults (~4K).Very low defaults in incomplete higher and lower secondary education.</a:t>
            </a:r>
          </a:p>
          <a:p>
            <a:endParaRPr lang="en-US" sz="1600" dirty="0">
              <a:latin typeface="Calibri" panose="020F0502020204030204" pitchFamily="34" charset="0"/>
              <a:ea typeface="Calibri" panose="020F0502020204030204" pitchFamily="34" charset="0"/>
              <a:cs typeface="Calibri" panose="020F0502020204030204" pitchFamily="34" charset="0"/>
            </a:endParaRPr>
          </a:p>
          <a:p>
            <a:r>
              <a:rPr lang="en-US" b="1" noProof="0" dirty="0">
                <a:latin typeface="Calibri" panose="020F0502020204030204" pitchFamily="34" charset="0"/>
                <a:ea typeface="Calibri" panose="020F0502020204030204" pitchFamily="34" charset="0"/>
                <a:cs typeface="Calibri" panose="020F0502020204030204" pitchFamily="34" charset="0"/>
              </a:rPr>
              <a:t>Income Type is a Major Risk Indicator-</a:t>
            </a:r>
          </a:p>
          <a:p>
            <a:pPr marL="285750" indent="-285750">
              <a:buFont typeface="Arial" panose="020B0604020202020204" pitchFamily="34" charset="0"/>
              <a:buChar char="•"/>
            </a:pPr>
            <a:r>
              <a:rPr lang="en-US" sz="1600" noProof="0" dirty="0">
                <a:latin typeface="Calibri" panose="020F0502020204030204" pitchFamily="34" charset="0"/>
                <a:ea typeface="Calibri" panose="020F0502020204030204" pitchFamily="34" charset="0"/>
                <a:cs typeface="Calibri" panose="020F0502020204030204" pitchFamily="34" charset="0"/>
              </a:rPr>
              <a:t>Unemployed borrowers and borrowers on maternity leave contribute the highest default share (~73.02%)</a:t>
            </a:r>
          </a:p>
          <a:p>
            <a:pPr marL="285750" indent="-285750">
              <a:buFont typeface="Arial" panose="020B0604020202020204" pitchFamily="34" charset="0"/>
              <a:buChar char="•"/>
            </a:pPr>
            <a:r>
              <a:rPr lang="en-US" sz="1600" noProof="0" dirty="0">
                <a:latin typeface="Calibri" panose="020F0502020204030204" pitchFamily="34" charset="0"/>
                <a:ea typeface="Calibri" panose="020F0502020204030204" pitchFamily="34" charset="0"/>
                <a:cs typeface="Calibri" panose="020F0502020204030204" pitchFamily="34" charset="0"/>
              </a:rPr>
              <a:t>Borrowers without stable income sources have significantly higher default risk.</a:t>
            </a:r>
          </a:p>
        </p:txBody>
      </p:sp>
      <p:sp>
        <p:nvSpPr>
          <p:cNvPr id="3" name="TextBox 2">
            <a:extLst>
              <a:ext uri="{FF2B5EF4-FFF2-40B4-BE49-F238E27FC236}">
                <a16:creationId xmlns:a16="http://schemas.microsoft.com/office/drawing/2014/main" id="{AD90E0EB-A0AA-D6B9-AEB8-D369D05A67EB}"/>
              </a:ext>
            </a:extLst>
          </p:cNvPr>
          <p:cNvSpPr txBox="1"/>
          <p:nvPr/>
        </p:nvSpPr>
        <p:spPr>
          <a:xfrm>
            <a:off x="812800" y="4559395"/>
            <a:ext cx="10566400" cy="1077218"/>
          </a:xfrm>
          <a:prstGeom prst="rect">
            <a:avLst/>
          </a:prstGeom>
          <a:noFill/>
        </p:spPr>
        <p:txBody>
          <a:bodyPr wrap="square">
            <a:spAutoFit/>
          </a:bodyPr>
          <a:lstStyle/>
          <a:p>
            <a:r>
              <a:rPr lang="en-US" sz="1600" i="1" dirty="0">
                <a:latin typeface="Calibri" panose="020F0502020204030204" pitchFamily="34" charset="0"/>
                <a:ea typeface="Calibri" panose="020F0502020204030204" pitchFamily="34" charset="0"/>
                <a:cs typeface="Calibri" panose="020F0502020204030204" pitchFamily="34" charset="0"/>
              </a:rPr>
              <a:t>The analysis reveals that employment stability, occupation type, and education level are the key drivers of loan defaults. Borrowers with unstable income sources and low-skill occupations demonstrate significantly higher credit risk. These insights enable financial institutions to refine credit scoring models and implement targeted lending strategies to minimize financial losses.</a:t>
            </a:r>
            <a:endParaRPr lang="en-IN" sz="1600" i="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98708136"/>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39</TotalTime>
  <Words>274</Words>
  <Application>Microsoft Office PowerPoint</Application>
  <PresentationFormat>Widescreen</PresentationFormat>
  <Paragraphs>24</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Calisto MT</vt:lpstr>
      <vt:lpstr>Univers Condensed</vt:lpstr>
      <vt:lpstr>ChronicleVTI</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Ankit Rawat</dc:creator>
  <cp:lastModifiedBy>Ankit Rawat</cp:lastModifiedBy>
  <cp:revision>5</cp:revision>
  <dcterms:created xsi:type="dcterms:W3CDTF">2025-07-20T16:17:48Z</dcterms:created>
  <dcterms:modified xsi:type="dcterms:W3CDTF">2026-03-06T03:57:50Z</dcterms:modified>
</cp:coreProperties>
</file>